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95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F46E5"/>
                </a:solidFill>
              </a:rPr>
              <a:t>AI-Powered Library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Full-Stack Web App with Semantic Vector Search &amp; Role-Aware Chatbot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Backend: Laravel 11 (API)  |  Frontend: React + Vite + Tailwind  |  AI: OpenAI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Problem Statement &amp; Intelligent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9643" y="77002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Traditional Challenges:
</a:t>
            </a:r>
            <a:r>
              <a:rPr lang="en-US" sz="1400" dirty="0">
                <a:solidFill>
                  <a:srgbClr val="475569"/>
                </a:solidFill>
              </a:rPr>
              <a:t>• Traditional catalogs rely purely on exact keyword/title/ISBN search.
• Zero personalization: all readers see static, identical book lists.
• Unrestricted AI chatbots risk leaking internal system statistics.
</a:t>
            </a:r>
            <a:r>
              <a:rPr lang="en-US" sz="1600" b="1" dirty="0">
                <a:solidFill>
                  <a:srgbClr val="0F172A"/>
                </a:solidFill>
              </a:rPr>
              <a:t>Our Intelligent Full-Stack Solution:
</a:t>
            </a:r>
            <a:r>
              <a:rPr lang="en-US" sz="1400" dirty="0">
                <a:solidFill>
                  <a:srgbClr val="475569"/>
                </a:solidFill>
              </a:rPr>
              <a:t>• Semantic Recommendations: Real-time Cosine Similarity between user profile &amp; books.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Zero-Leakage AI: Chatbot strictly bound to Laravel Sanctum &amp; Spatie authorization.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Decoupled Architecture: React SPA consuming secured Laravel REST API endpoints.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Decoupled 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4642" y="19431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</a:rPr>
              <a:t>1. Client Frontend (React + Vite + Tailwind CSS):
</a:t>
            </a:r>
            <a:r>
              <a:rPr lang="en-US" sz="1400" dirty="0">
                <a:solidFill>
                  <a:srgbClr val="475569"/>
                </a:solidFill>
              </a:rPr>
              <a:t>• Single Page Application with intuitive navigation and catalog filtering.
• Centralized Axios interceptor attaching Bearer tokens to all requests.
• Floating interactive AI assistant accessible sitewide.
</a:t>
            </a:r>
            <a:r>
              <a:rPr lang="en-US" sz="1600" b="1" dirty="0">
                <a:solidFill>
                  <a:srgbClr val="4F46E5"/>
                </a:solidFill>
              </a:rPr>
              <a:t>2. Backend API &amp; Security Layer (Laravel 11):
</a:t>
            </a:r>
            <a:r>
              <a:rPr lang="en-US" sz="1400" dirty="0">
                <a:solidFill>
                  <a:srgbClr val="475569"/>
                </a:solidFill>
              </a:rPr>
              <a:t>• Secure Sanctum Token Authentication &amp; Spatie RBAC.
• API Resources for Books, Categories, Users, and Recommendations.
</a:t>
            </a:r>
            <a:r>
              <a:rPr lang="en-US" sz="1600" b="1" dirty="0">
                <a:solidFill>
                  <a:srgbClr val="4F46E5"/>
                </a:solidFill>
              </a:rPr>
              <a:t>3. Persistence &amp; AI Core (MySQL + OpenAI API):
</a:t>
            </a:r>
            <a:r>
              <a:rPr lang="en-US" sz="1400" dirty="0">
                <a:solidFill>
                  <a:srgbClr val="475569"/>
                </a:solidFill>
              </a:rPr>
              <a:t>• Relational database storing normalized records and multi-dimensional vector embeddings.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High-dimensional embeddings (text-embedding-3-small) &amp; contextual chat (gpt-4o-mini).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Role-Based Access Control (RBAC)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3394" y="19431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Standard User Role (Patron):
</a:t>
            </a:r>
            <a:r>
              <a:rPr lang="en-US" sz="1400" dirty="0">
                <a:solidFill>
                  <a:srgbClr val="475569"/>
                </a:solidFill>
              </a:rPr>
              <a:t>• Manage profile preferences: Interests, Skills, and Learning Goals.
• View personalized book recommendations ranked by match percentage.
• Interact with the public book catalog and general discovery chatbot.
</a:t>
            </a:r>
            <a:r>
              <a:rPr lang="en-US" sz="1600" b="1" dirty="0">
                <a:solidFill>
                  <a:srgbClr val="0F172A"/>
                </a:solidFill>
              </a:rPr>
              <a:t>System Administrator Role:
</a:t>
            </a:r>
            <a:r>
              <a:rPr lang="en-US" sz="1400" dirty="0">
                <a:solidFill>
                  <a:srgbClr val="475569"/>
                </a:solidFill>
              </a:rPr>
              <a:t>• Full CRUD permissions over books and categories.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Upload and host book cover images via Laravel local storage.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Manage registered accounts and modify user permissions.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Query administrative metrics (user count, inventory status) via Chatbot.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Semantic Vector Matching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5893" y="3886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Mathematical Cosine Similarity Pipeline:
</a:t>
            </a:r>
            <a:r>
              <a:rPr lang="en-US" sz="1500" b="1" dirty="0">
                <a:solidFill>
                  <a:srgbClr val="4F46E5"/>
                </a:solidFill>
              </a:rPr>
              <a:t>1. Vector Generation:
</a:t>
            </a:r>
            <a:r>
              <a:rPr lang="en-US" sz="1400" dirty="0">
                <a:solidFill>
                  <a:srgbClr val="475569"/>
                </a:solidFill>
              </a:rPr>
              <a:t>• Transforms combined book metadata into 1536-dimensional vectors via OpenAI.
• Embeds user profile attributes (Interests + Skills + Goals) into target vectors.
</a:t>
            </a:r>
            <a:r>
              <a:rPr lang="en-US" sz="1500" b="1" dirty="0">
                <a:solidFill>
                  <a:srgbClr val="4F46E5"/>
                </a:solidFill>
              </a:rPr>
              <a:t>2. Vector Dot Product Computation:
</a:t>
            </a:r>
            <a:r>
              <a:rPr lang="en-US" sz="1400" dirty="0">
                <a:solidFill>
                  <a:srgbClr val="475569"/>
                </a:solidFill>
              </a:rPr>
              <a:t>• Formula: Cosine Similarity = (A · B) / (||A|| * ||B||)
• Maps mathematical similarity into an intuitive 0% - 100% Match Percentage.
</a:t>
            </a:r>
            <a:r>
              <a:rPr lang="en-US" sz="1500" b="1" dirty="0">
                <a:solidFill>
                  <a:srgbClr val="4F46E5"/>
                </a:solidFill>
              </a:rPr>
              <a:t>3. Dynamic Adaptation:
</a:t>
            </a:r>
            <a:r>
              <a:rPr lang="en-US" sz="1400" dirty="0">
                <a:solidFill>
                  <a:srgbClr val="475569"/>
                </a:solidFill>
              </a:rPr>
              <a:t>• Editing profile interests immediately re-ranks all catalog recommendations.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Secure Role-Aware Chatbot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9431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Strict Zero Data Leakage Policy:
</a:t>
            </a:r>
            <a:r>
              <a:rPr lang="en-US" sz="1400" dirty="0">
                <a:solidFill>
                  <a:srgbClr val="475569"/>
                </a:solidFill>
              </a:rPr>
              <a:t>The AI model NEVER receives direct database access. Laravel functions as the security layer.
</a:t>
            </a:r>
            <a:r>
              <a:rPr lang="en-US" sz="1500" b="1" dirty="0">
                <a:solidFill>
                  <a:srgbClr val="4F46E5"/>
                </a:solidFill>
              </a:rPr>
              <a:t>Scenario A: Standard User Prompt
</a:t>
            </a:r>
            <a:r>
              <a:rPr lang="en-US" sz="1400" dirty="0">
                <a:solidFill>
                  <a:srgbClr val="475569"/>
                </a:solidFill>
              </a:rPr>
              <a:t>• Prompt: 'How many total users are registered in the library?'
• Laravel Gate: Flags non-admin role privileges.
• Output: Request rejected immediately with HTTP 403 (Access Denied).
</a:t>
            </a:r>
            <a:r>
              <a:rPr lang="en-US" sz="1500" b="1" dirty="0">
                <a:solidFill>
                  <a:srgbClr val="4F46E5"/>
                </a:solidFill>
              </a:rPr>
              <a:t>Scenario B: Admin Prompt
</a:t>
            </a:r>
            <a:r>
              <a:rPr lang="en-US" sz="1400" dirty="0">
                <a:solidFill>
                  <a:srgbClr val="475569"/>
                </a:solidFill>
              </a:rPr>
              <a:t>• Prompt: 'How many total users are registered in the library?'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Laravel Gate: Validates admin privileges and injects aggregated statistics context.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Output: Assistant outputs real-time counts and catalog analytics.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Database Schema &amp; Media Storage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-79065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Normalized Database Relations:
</a:t>
            </a:r>
            <a:r>
              <a:rPr lang="en-US" sz="1400" dirty="0">
                <a:solidFill>
                  <a:srgbClr val="475569"/>
                </a:solidFill>
              </a:rPr>
              <a:t>• Users: Encrypted passwords, role foreign keys, and personalized learning fields.
• Books &amp; Categories: Indexed ISBNs, cascading foreign keys, and stock tracking.
• High-Dimensional Embeddings: Persisted vector arrays for in-memory matching.
</a:t>
            </a:r>
            <a:r>
              <a:rPr lang="en-US" sz="1600" b="1" dirty="0">
                <a:solidFill>
                  <a:srgbClr val="0F172A"/>
                </a:solidFill>
              </a:rPr>
              <a:t>Media Upload Pipeline:
</a:t>
            </a:r>
            <a:r>
              <a:rPr lang="en-US" sz="1400" dirty="0">
                <a:solidFill>
                  <a:srgbClr val="475569"/>
                </a:solidFill>
              </a:rPr>
              <a:t>• Admins can upload cover images from their computer via multipart/form-data.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Server validates formats (jpeg, png, webp) up to 2MB.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Stored on disk (storage/app/public/covers) and served via 'php artisan storage:link'.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Live Test Credentials &amp; Expected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9431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</a:rPr>
              <a:t>1. Administrator (admin@library.com / password123):
</a:t>
            </a:r>
            <a:r>
              <a:rPr lang="en-US" sz="1400" dirty="0">
                <a:solidFill>
                  <a:srgbClr val="475569"/>
                </a:solidFill>
              </a:rPr>
              <a:t>• Full access to Admin Panel, category/book CRUD, and administrative chat queries.
</a:t>
            </a:r>
            <a:r>
              <a:rPr lang="en-US" sz="1500" b="1" dirty="0">
                <a:solidFill>
                  <a:srgbClr val="4F46E5"/>
                </a:solidFill>
              </a:rPr>
              <a:t>2. AI Researcher (sara@library.com / password123):
</a:t>
            </a:r>
            <a:r>
              <a:rPr lang="en-US" sz="1400" dirty="0">
                <a:solidFill>
                  <a:srgbClr val="475569"/>
                </a:solidFill>
              </a:rPr>
              <a:t>• High Match % (&gt;85%) for Machine Learning &amp; Deep Learning titles.
</a:t>
            </a:r>
            <a:r>
              <a:rPr lang="en-US" sz="1500" b="1" dirty="0">
                <a:solidFill>
                  <a:srgbClr val="4F46E5"/>
                </a:solidFill>
              </a:rPr>
              <a:t>3. Security Specialist (omar@library.com / password123):
</a:t>
            </a:r>
            <a:r>
              <a:rPr lang="en-US" sz="1400" dirty="0">
                <a:solidFill>
                  <a:srgbClr val="475569"/>
                </a:solidFill>
              </a:rPr>
              <a:t>• High Match % for Ethical Hacking and Network Penetration titles.
</a:t>
            </a:r>
            <a:r>
              <a:rPr lang="en-US" sz="1500" b="1" dirty="0">
                <a:solidFill>
                  <a:srgbClr val="4F46E5"/>
                </a:solidFill>
              </a:rPr>
              <a:t>4. Web Developer (karim@library.com / password123):
</a:t>
            </a:r>
            <a:r>
              <a:rPr lang="en-US" sz="1400" dirty="0">
                <a:solidFill>
                  <a:srgbClr val="475569"/>
                </a:solidFill>
              </a:rPr>
              <a:t>• High Match % for React, TypeScript, and Clean Code titles.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</a:rPr>
              <a:t>Conclusion &amp;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9431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Delivered Project Milestones:
</a:t>
            </a:r>
            <a:r>
              <a:rPr lang="en-US" sz="1500" b="1" dirty="0">
                <a:solidFill>
                  <a:srgbClr val="059669"/>
                </a:solidFill>
              </a:rPr>
              <a:t>✔ Full-Stack Integration: Laravel 11 REST API coupled with React 18 SPA.
✔ Practical AI / ML: Mathematical Cosine Similarity scoring using OpenAI Embeddings.
✔ Robust Security: Zero data leakage RBAC applied across endpoints and LLM prompts.
✔ Storage Architecture: Local disk storage management with public symlink.
✔ Seeded Demo Data: Ready for instant live evaluation with targeted personas.
</a:t>
            </a:r>
            <a:r>
              <a:rPr lang="en-US" sz="2200" b="1" dirty="0">
                <a:solidFill>
                  <a:srgbClr val="4F46E5"/>
                </a:solidFill>
              </a:rPr>
              <a:t>Thank You!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912</Words>
  <Application>Microsoft Office PowerPoint</Application>
  <PresentationFormat>On-screen Show (16:9)</PresentationFormat>
  <Paragraphs>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Motaz Turkey</cp:lastModifiedBy>
  <cp:revision>2</cp:revision>
  <dcterms:created xsi:type="dcterms:W3CDTF">2026-09-11T16:46:27Z</dcterms:created>
  <dcterms:modified xsi:type="dcterms:W3CDTF">2026-09-11T16:48:07Z</dcterms:modified>
</cp:coreProperties>
</file>